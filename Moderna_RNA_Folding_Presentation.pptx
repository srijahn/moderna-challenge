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QAOA success rate</c:v>
                </c:pt>
              </c:strCache>
            </c:strRef>
          </c:tx>
          <c:spPr>
            <a:solidFill>
              <a:srgbClr val="B23B3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8nt</c:v>
                </c:pt>
                <c:pt idx="1">
                  <c:v>9nt</c:v>
                </c:pt>
                <c:pt idx="2">
                  <c:v>10a</c:v>
                </c:pt>
                <c:pt idx="3">
                  <c:v>10b</c:v>
                </c:pt>
                <c:pt idx="4">
                  <c:v>10c</c:v>
                </c:pt>
                <c:pt idx="5">
                  <c:v>11nt</c:v>
                </c:pt>
                <c:pt idx="6">
                  <c:v>12nt</c:v>
                </c:pt>
                <c:pt idx="7">
                  <c:v>12w</c:v>
                </c:pt>
                <c:pt idx="8">
                  <c:v>14nt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0.67</c:v>
                </c:pt>
                <c:pt idx="6">
                  <c:v>0.67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CD-4425-90ED-86405C5540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CVaR-VQE success rate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8nt</c:v>
                </c:pt>
                <c:pt idx="1">
                  <c:v>9nt</c:v>
                </c:pt>
                <c:pt idx="2">
                  <c:v>10a</c:v>
                </c:pt>
                <c:pt idx="3">
                  <c:v>10b</c:v>
                </c:pt>
                <c:pt idx="4">
                  <c:v>10c</c:v>
                </c:pt>
                <c:pt idx="5">
                  <c:v>11nt</c:v>
                </c:pt>
                <c:pt idx="6">
                  <c:v>12nt</c:v>
                </c:pt>
                <c:pt idx="7">
                  <c:v>12w</c:v>
                </c:pt>
                <c:pt idx="8">
                  <c:v>14nt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CD-4425-90ED-86405C554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44444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444444"/>
                    </a:solidFill>
                    <a:latin typeface="Arial"/>
                  </a:rPr>
                  <a:t>Success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44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3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 Secondary Structure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QUBO Formulation and Quantum Optimization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Yagna Priya Gummadi   ·   Sri Jahnavi Chinthalapudi   ·   Sree Neha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RNA folding matters, and why it's computationally hard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stakes: 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mRNA secondary structure governs stability, translation efficiency, and manufacturability — directly relevant to mRNA therapeutics and vaccine design.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approach: 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ViennaRNA finds the exact Minimum Free Energy (MFE) structure via dynamic programming (Zuker's algorithm) — O(n³) time, guaranteed optimal, but only for the pseudoknot-free case.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wall: 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constraints (e.g. pseudoknots) break the DP's recursive structure and make exact folding NP-hard in general.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 RNA folding as a QUBO optimization problem and hand it to two independent quantum algorithms (QAOA, CVaR-VQE), checked against ViennaRNA ground truth.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from sequence to validated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0136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sequence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16712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A/U/C/G nucleotide string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0136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ViennaRNA benchmark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3712" y="216712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MFE structure &amp; energy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80136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QUBO formulation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16712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pairs → binary variables + constraint penalties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558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Quantum solve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37216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QAOA and CVaR-VQE (PennyLane), run independently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32461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3558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Real-energy 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37216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structures scored on ViennaRNA's own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32461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33558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Structural metrics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192" y="37216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/ recall / F1 vs. the real MFE 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quantum solvers checked against the same classical ground truth — agreement is evidence, not assumption.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Formulation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base pairs into an optimization objective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 base pair (i, j) becomes a binary variable: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E(x) = − Σₖ wₖ · xₖ   +   Σₖ&lt;ₗ ∈ conflict  P · xₖ · xₗ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167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term favors valid, stronger base pairs (Watson-Crick weighted 2.0, wobble G-U weighted 1.0)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term (P = 10.0) blocks overlapping pairs and crossing pairs (pseudoknots), by construction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hairpin-loop constraint (≥ 3 unpaired nt) enforced at candidate-pair generation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by brute force (2ⁿ enumeration) against ViennaRNA's real MFE for sequences up to ~20 candidate pairs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Quantum Methods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QUBO → Ising Hamiltonian, two different solvers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7236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QAOA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4860036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Alternates problem-Hamiltonian and mixer-Hamiltonian layers (p = 3), angles tuned classically.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the plain expectation value of the cost Hamiltonian.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with derivative-free COBYLA after an early gradient-based version scaled badly (~17 min at 17 qubits).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success rate: ≈48% mean, and only up to ~11 qubits.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317236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196596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CVaR-VQE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51676" y="2560320"/>
            <a:ext cx="4860036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Hardware-efficient two-local ansatz (RY rotations + linear CNOT entanglers).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only the best α = 15% of sampled outcomes (Conditional Value at Risk), not the mean.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COBYLA optimizer, 2 restarts, top-k classical post-selection.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success rate: 100% across every tested sequence and trial.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12-sequence benchmark, 8–14 nt, 33%–100% GC content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12</a:t>
            </a: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sequences match ViennaRNA's real MFE structure exactly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(base-pair F1 = 1.0, real thermodynamic energy gap = 0.0 kcal/mol — not just matching the QUBO's own internal score)</a:t>
            </a: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616902"/>
              </p:ext>
            </p:extLst>
          </p:nvPr>
        </p:nvGraphicFramePr>
        <p:xfrm>
          <a:off x="548640" y="2743200"/>
          <a:ext cx="11091672" cy="237744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5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QAOA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CVaR-VQE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success rate (multi-trial)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≈48%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Best-method wins (12 sequences)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12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of 12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 qubit ceiling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~11–13 qubits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~13–14 qubits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optimization runtime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~9.8 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~2.9 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Robustness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QAOA trials + 5 CVaR-VQE trials per sequence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91672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&amp; Scaling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approach degrades and grows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robustness (QAOA, depolarizing noise)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18782"/>
              </p:ext>
            </p:extLst>
          </p:nvPr>
        </p:nvGraphicFramePr>
        <p:xfrm>
          <a:off x="548640" y="2011680"/>
          <a:ext cx="530352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level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success prob.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noise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(p=0.01)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(p=0.05)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(p=0.10)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scaling (measured, not estimated)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09360" y="20116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nt: full optimization + exact ground truth (≤13 qubits)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14–50 nt: qubit count, circuit depth, and gate count measured by actually building each circuit — up to 378 qubits at 50 nt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quality-checked optimization is not run past ~13–14 qubits (simulator-prohibitive)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Challenge's own 44 nt example needs 313 qubits — far beyond this project's tractable range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 work, and why it's still useful to know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objective is imperfect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pair-count reward diverges from real ViennaRNA thermodynamics on a minority of sequences (2 of 12 known cases) — a limitation of the objective, not the optimizers; both found their QUBO's true optimum.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27614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QAOA reliability gap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~48% vs. 100% success rate under this project's optimizer/step budget — untested whether more layers or steps closes the gap.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3877056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Pseudoknots excluded by design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ViennaRNA's own DP assumption, but limits applicability to the pseudoknot-free subset of real structures.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499262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Simulator-only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5340096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results here speak to physical NISQ hardware behavior — gate errors, readout noise, and connectivity would add further degradation.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Directions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shows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reproducible pipeline from raw sequence to validated quantum-predicted structure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CVaR-VQE reliably recovers its own QUBO optimum and matches real MFE structures on 11 of 12 sequences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genuine bugs (a non-folding validation sequence, a runtime blowup) were caught by the project's own tooling and documented, not hidden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QUBO objective: length- and stack-dependent rewards to close the thermodynamic gap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hardware runs on the smallest validated cases (8–11 qubits)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Pseudoknot-aware formulation; QAOA layer/step sweep; QUBO decomposition for longer sequences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WISER × Moderna Quantum 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1031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Srijahnavi Chinthalapudi</cp:lastModifiedBy>
  <cp:revision>2</cp:revision>
  <dcterms:created xsi:type="dcterms:W3CDTF">2026-08-05T05:18:51Z</dcterms:created>
  <dcterms:modified xsi:type="dcterms:W3CDTF">2026-08-06T06:09:29Z</dcterms:modified>
</cp:coreProperties>
</file>